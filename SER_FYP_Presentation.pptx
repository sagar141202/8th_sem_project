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943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8th Semester Final Year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8321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Emotion Recognition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2788920"/>
            <a:ext cx="5029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 S. Maddi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(12215121 – ECE B6)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273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Kasagani Charan Kumar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(12215095 – ECE B5)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Dr. Vrinda Gupta  |  Dept. of Electronics &amp; Communication Engineering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Technology, Kurukshetra  —  May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 ·  RAVDESS + TESS + EMO-DB  ·  Gradio Web App  ·  89.7% Accuracy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Motivation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Kurukshetra  |  ECE Dept.  |  B.Tech 8th Sem FYP 2025–26  |  Dr. Vrinda Gupta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14300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carries emotion beyond literal words — pitch, energy, and spectral cues encode affect.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mental health monitoring, call-center analytics, adaptive e-learning, empathetic virtual assistants.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open-source SER systems lack augmentation, multi-dataset training, and accessible demos.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closes those gaps with a complete, reproducible, deployable pipeline.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777240"/>
            <a:ext cx="36576" cy="347472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143000"/>
            <a:ext cx="4160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184-dim feature vector: MFCC, Chroma, Mel Spectrogram, ZCR, RMS, Spectral Centroid, Rolloff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data augmentation: ~5,131 → 20,524 samples (time-stretch, pitch-shift, noise)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architectures trained &amp; compared: LSTM, CNN-LSTM, Transformer Encoder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CNN-LSTM — 89.7% test accuracy (vs 70.3% baseline)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app — real-time demo with waveform, Mel spectrogram, confidence charts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Feature Extraction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Kurukshetra  |  ECE Dept.  |  B.Tech 8th Sem FYP 2025–26  |  Dr. Vrinda Gupta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 — Combined Multi-Speaker Corpus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8503920" cy="123444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  <a:gridCol w="1645920"/>
                <a:gridCol w="29260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Clips (used)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RAVDESS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(12M+12F)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~4,390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(Female)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EMO-DB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(5M+5F)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speakers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~5,131  →  20,524 (4×aug)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20040" y="24871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Pipeline — 184-Dimensional Vector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16352"/>
          <a:ext cx="8503920" cy="1508760"/>
        </p:xfrm>
        <a:graphic>
          <a:graphicData uri="http://schemas.openxmlformats.org/drawingml/2006/table">
            <a:tbl>
              <a:tblPr/>
              <a:tblGrid>
                <a:gridCol w="2560320"/>
                <a:gridCol w="4754880"/>
                <a:gridCol w="11887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captures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MFCC (40-dim)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Vocal tract shape — primary emotion cue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 STFT (12-dim)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Harmonic / pitch class energy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 Spectrogram (128-dim)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Freq–time energy map — richest single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ZCR, RMS, Centroid, Rolloff (4-dim)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Loudness, brightness, voicing (NEW)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&amp; Model Architectures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Kurukshetra  |  ECE Dept.  |  B.Tech 8th Sem FYP 2025–26  |  Dr. Vrinda Gupta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(4× Pipeline)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40690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Stretching ×1.1  — simulates fast speech delivery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Shifting +2 semitones  — cross-gender voice variation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 (σ=0.005, ~20 dB SNR) — real-world mic conditions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5,131 → 20,524 samples — same label, 4× variety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31272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56432"/>
          <a:ext cx="4069080" cy="11430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32588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CNN-LSTM Hybrid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~171K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26280" y="777240"/>
            <a:ext cx="36576" cy="37947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77724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Architecture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46320" y="1170432"/>
            <a:ext cx="384048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11704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(184 × 1)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16093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1810512"/>
            <a:ext cx="3840480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181051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(64 filters, k=5) + BatchNorm + MaxPool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22494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2450592"/>
            <a:ext cx="3840480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24505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(128 filters, k=3) + BatchNorm + MaxPool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46320" y="28895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3090672"/>
            <a:ext cx="3840480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30906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(64 units) + Dropout 0.4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46320" y="35295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46320" y="3730752"/>
            <a:ext cx="3840480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37307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(64, ReLU) + Dropout 0.3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46320" y="41696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46320" y="4370832"/>
            <a:ext cx="3840480" cy="438912"/>
          </a:xfrm>
          <a:prstGeom prst="rect">
            <a:avLst/>
          </a:prstGeom>
          <a:solidFill>
            <a:srgbClr val="8B1A1A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0" y="43708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(4, Softmax) → Emotion class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Per-Class Performance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Kurukshetra  |  ECE Dept.  |  B.Tech 8th Sem FYP 2025–26  |  Dr. Vrinda Gupta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74320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Test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804672"/>
            <a:ext cx="2697480" cy="1463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80467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+19.4 pp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46120" y="1600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over LSTM baseline (70.3%)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804672"/>
            <a:ext cx="2697480" cy="1463040"/>
          </a:xfrm>
          <a:prstGeom prst="rect">
            <a:avLst/>
          </a:prstGeom>
          <a:solidFill>
            <a:srgbClr val="2C4A7A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80467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0.87–0.91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1600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Range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4231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— CNN-LSTM Model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743200"/>
          <a:ext cx="8503920" cy="187452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1645920"/>
                <a:gridCol w="1828800"/>
              </a:tblGrid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Workflow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Kurukshetra  |  ECE Dept.  |  B.Tech 8th Sem FYP 2025–26  |  Dr. Vrinda Gupta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005840"/>
            <a:ext cx="12344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05840"/>
            <a:ext cx="1234440" cy="5038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 Input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1483614"/>
            <a:ext cx="123444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/ Mic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1005840"/>
            <a:ext cx="91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65960" y="1005840"/>
            <a:ext cx="12344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005840"/>
            <a:ext cx="1234440" cy="5038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65960" y="1483614"/>
            <a:ext cx="123444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→ 16 kHz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1005840"/>
            <a:ext cx="91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91840" y="1005840"/>
            <a:ext cx="12344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005840"/>
            <a:ext cx="1234440" cy="5038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0" y="1483614"/>
            <a:ext cx="123444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expansion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1005840"/>
            <a:ext cx="91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1005840"/>
            <a:ext cx="12344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005840"/>
            <a:ext cx="1234440" cy="5038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17720" y="1483614"/>
            <a:ext cx="123444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184-dim vector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1005840"/>
            <a:ext cx="91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0" y="1005840"/>
            <a:ext cx="12344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005840"/>
            <a:ext cx="1234440" cy="5038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Model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0" y="1483614"/>
            <a:ext cx="123444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 accuracy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78040" y="1005840"/>
            <a:ext cx="91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69480" y="1005840"/>
            <a:ext cx="1234440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1005840"/>
            <a:ext cx="1234440" cy="5038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Output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69480" y="1483614"/>
            <a:ext cx="123444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/ Angry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/ Sad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2103120"/>
            <a:ext cx="8503920" cy="27432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Application — Real-Time Inference Flow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" y="2633472"/>
            <a:ext cx="1572768" cy="804672"/>
          </a:xfrm>
          <a:prstGeom prst="rect">
            <a:avLst/>
          </a:prstGeom>
          <a:solidFill>
            <a:srgbClr val="E8EE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2633472"/>
            <a:ext cx="1572768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68833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/ Record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307238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audio file or live mic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29384" y="2633472"/>
            <a:ext cx="1572768" cy="804672"/>
          </a:xfrm>
          <a:prstGeom prst="rect">
            <a:avLst/>
          </a:prstGeom>
          <a:solidFill>
            <a:srgbClr val="E8EE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9384" y="2633472"/>
            <a:ext cx="1572768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29384" y="268833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Extract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929384" y="307238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184-dim vector in real time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38728" y="2633472"/>
            <a:ext cx="1572768" cy="804672"/>
          </a:xfrm>
          <a:prstGeom prst="rect">
            <a:avLst/>
          </a:prstGeom>
          <a:solidFill>
            <a:srgbClr val="E8EE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38728" y="2633472"/>
            <a:ext cx="1572768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38728" y="268833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CNN-LSTM Inference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38728" y="307238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probability output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48072" y="2633472"/>
            <a:ext cx="1572768" cy="804672"/>
          </a:xfrm>
          <a:prstGeom prst="rect">
            <a:avLst/>
          </a:prstGeom>
          <a:solidFill>
            <a:srgbClr val="E8EE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48072" y="2633472"/>
            <a:ext cx="1572768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48072" y="268833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Waveform + Mel Plot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48072" y="307238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energy overlay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757416" y="2633472"/>
            <a:ext cx="1572768" cy="804672"/>
          </a:xfrm>
          <a:prstGeom prst="rect">
            <a:avLst/>
          </a:prstGeom>
          <a:solidFill>
            <a:srgbClr val="E8EE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57416" y="2633472"/>
            <a:ext cx="1572768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57416" y="268833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Confidence Chart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57416" y="307238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emotion scores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0040" y="3611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Python 3.11  ·  TensorFlow 2.16 / Keras  ·  librosa 0.11  ·  NumPy  ·  scikit-learn  ·  Gradio 6.14  ·  Matplotlib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20040" y="3977640"/>
            <a:ext cx="8503920" cy="640080"/>
          </a:xfrm>
          <a:prstGeom prst="rect">
            <a:avLst/>
          </a:prstGeom>
          <a:solidFill>
            <a:srgbClr val="E8EEF5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39776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config: 100 epochs max  |  Early stopping (patience=10)  |  Batch=32  |  Adam lr=1e-3  |  ReduceLROnPlateau  |  80/20 stratified split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App — Prediction Interface Screenshots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Kurukshetra  |  ECE Dept.  |  B.Tech 8th Sem FYP 2025–26  |  Dr. Vrinda Gupta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screenshot shows: Detected Emotion  ·  Confidence Score  ·  Audio Metadata  ·  All Emotion Scores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46304" y="1042416"/>
            <a:ext cx="423367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pic>
        <p:nvPicPr>
          <p:cNvPr id="10" name="Image 0" descr="/Users/sagarmaddi/Desktop/8sem/Emotion results images/WhatsApp Image 2026-05-07 at 10.54.4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78992"/>
            <a:ext cx="4160520" cy="19019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" y="2999232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10.1 — HAPPY  (99.9%)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81144" y="1042416"/>
            <a:ext cx="423367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pic>
        <p:nvPicPr>
          <p:cNvPr id="13" name="Image 1" descr="/Users/sagarmaddi/Desktop/8sem/Emotion results images/WhatsApp Image 2026-05-07 at 10.56.18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1078992"/>
            <a:ext cx="4160520" cy="19019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2999232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10.3 — ANGRY  (100.0%)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46304" y="3026664"/>
            <a:ext cx="423367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pic>
        <p:nvPicPr>
          <p:cNvPr id="16" name="Image 2" descr="/Users/sagarmaddi/Desktop/8sem/Emotion results images/WhatsApp Image 2026-05-07 at 10.59.52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82880" y="3063240"/>
            <a:ext cx="4160520" cy="19019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" y="4983480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10.5 — SAD  (89.8%)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581144" y="3026664"/>
            <a:ext cx="423367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pic>
        <p:nvPicPr>
          <p:cNvPr id="19" name="Image 3" descr="/Users/sagarmaddi/Desktop/8sem/Emotion results images/WhatsApp Image 2026-05-07 at 11.01.57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17720" y="3063240"/>
            <a:ext cx="4160520" cy="19019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17720" y="4983480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10.7 — NEUTRAL  (76.4%)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App — Waveform + Mel Spectrogram &amp; Confidence Charts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Kurukshetra  |  ECE Dept.  |  B.Tech 8th Sem FYP 2025–26  |  Dr. Vrinda Gupta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row: Waveform + RMS Energy overlay + Mel Spectrogram  ·  Bottom row: Emotion Confidence Bar Charts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46304" y="1042416"/>
            <a:ext cx="423367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pic>
        <p:nvPicPr>
          <p:cNvPr id="10" name="Image 0" descr="/Users/sagarmaddi/Desktop/8sem/Emotion results images/WhatsApp Image 2026-05-07 at 10.55.06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78992"/>
            <a:ext cx="4160520" cy="19019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" y="2999232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10.2 — HAPPY Waveform + Mel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81144" y="1042416"/>
            <a:ext cx="423367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pic>
        <p:nvPicPr>
          <p:cNvPr id="13" name="Image 1" descr="/Users/sagarmaddi/Desktop/8sem/Emotion results images/WhatsApp Image 2026-05-07 at 10.57.33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1078992"/>
            <a:ext cx="4160520" cy="19019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2999232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10.4 — ANGRY Waveform + Mel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46304" y="3026664"/>
            <a:ext cx="423367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pic>
        <p:nvPicPr>
          <p:cNvPr id="16" name="Image 2" descr="/Users/sagarmaddi/Desktop/8sem/Emotion results images/WhatsApp Image 2026-05-07 at 11.00.11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82880" y="3063240"/>
            <a:ext cx="4160520" cy="19019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" y="4983480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10.6 — SAD Confidence Scores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581144" y="3026664"/>
            <a:ext cx="423367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pic>
        <p:nvPicPr>
          <p:cNvPr id="19" name="Image 3" descr="/Users/sagarmaddi/Desktop/8sem/Emotion results images/WhatsApp Image 2026-05-07 at 11.02.28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17720" y="3063240"/>
            <a:ext cx="4160520" cy="19019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17720" y="4983480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10.8 — NEUTRAL Confidence Scores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Prior Work  |  Advantages &amp; Limitations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Kurukshetra  |  ECE Dept.  |  B.Tech 8th Sem FYP 2025–26  |  Dr. Vrinda Gupta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Prior Work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1463040"/>
                <a:gridCol w="201168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Author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+ MFCC (2011)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EMO-DB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DNN + MFCC (2017)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IEMOCAP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CNN-LSTM (2019)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RAVDESS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x4nth055 LSTM (2019)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RAVDESS+TESS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 — CNN-LSTM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RAVDESS+TESS+EMO-DB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2651760"/>
            <a:ext cx="36576" cy="19659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6334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926080"/>
            <a:ext cx="388620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Multi-dataset: speaker diversity across RAVDESS, TESS, EMO-DB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augmentation cuts overfitting without extra data collection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+19.4 pp over LSTM baseline; all F1 ≥ 0.87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standard consumer laptop — no specialized hardware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17720" y="2651760"/>
            <a:ext cx="36576" cy="1965960"/>
          </a:xfrm>
          <a:prstGeom prst="rect">
            <a:avLst/>
          </a:prstGeom>
          <a:solidFill>
            <a:srgbClr val="2C4A7A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26334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54880" y="2926080"/>
            <a:ext cx="40690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emotion classes; expand to 7-8 (Fear, Disgust, Surprise)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training was stopped early due to hardware limits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only; no streaming/frame-level real-time inference yet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Wav2Vec2 embeddings, Hugging Face cloud deployment, edge TFLite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 pipeline: raw audio → 184-dim features → CNN-LSTM → real-time Gradio demo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achieves 89.7% accuracy — 19.4 pp above LSTM baseline; macro F1 = 0.89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 training (36 speakers) + 4× augmentation → robust, generalizable model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specialized hardware required — runs fully on consumer MacBook with Metal GPU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Gradio app provides accessible, real-time emotion detection from any browser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2971800"/>
            <a:ext cx="832104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09067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Live Demo: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https://095706ea257921b090.gradio.live/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3474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https://github.com/sagar141202/8th_sem_project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39136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Dr. Vrinda Gupta  |  Dept. of ECE, NIT Kurukshetra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42793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Recognition Using Deep Learning</dc:title>
  <dc:subject>PptxGenJS Presentation</dc:subject>
  <dc:creator>Sagar S. Maddi &amp; Kasagani Charan Kumar</dc:creator>
  <cp:lastModifiedBy>Sagar S. Maddi &amp; Kasagani Charan Kumar</cp:lastModifiedBy>
  <cp:revision>1</cp:revision>
  <dcterms:created xsi:type="dcterms:W3CDTF">2026-05-07T09:18:14Z</dcterms:created>
  <dcterms:modified xsi:type="dcterms:W3CDTF">2026-05-07T09:18:14Z</dcterms:modified>
</cp:coreProperties>
</file>